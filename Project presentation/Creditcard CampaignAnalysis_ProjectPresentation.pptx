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72" r:id="rId5"/>
    <p:sldId id="263" r:id="rId6"/>
    <p:sldId id="271" r:id="rId7"/>
    <p:sldId id="267" r:id="rId8"/>
    <p:sldId id="283" r:id="rId9"/>
    <p:sldId id="266" r:id="rId10"/>
    <p:sldId id="265" r:id="rId11"/>
    <p:sldId id="273" r:id="rId12"/>
    <p:sldId id="269" r:id="rId13"/>
    <p:sldId id="276" r:id="rId14"/>
    <p:sldId id="277" r:id="rId15"/>
    <p:sldId id="279" r:id="rId16"/>
    <p:sldId id="284" r:id="rId17"/>
    <p:sldId id="280" r:id="rId18"/>
    <p:sldId id="28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>
      <p:cViewPr varScale="1">
        <p:scale>
          <a:sx n="101" d="100"/>
          <a:sy n="101" d="100"/>
        </p:scale>
        <p:origin x="209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8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1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4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1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8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4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5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04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8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8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71E12-466B-4310-9515-6F7882633B2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8522C-9B49-4AD7-9413-434766E1F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Project Modelling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0960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G" sz="2400" dirty="0"/>
              <a:t>Objectives:</a:t>
            </a:r>
          </a:p>
          <a:p>
            <a:pPr marL="0" indent="0">
              <a:buNone/>
            </a:pPr>
            <a:r>
              <a:rPr lang="en-SG" sz="1600" i="1" dirty="0"/>
              <a:t>(A)How successful the credit card campaign leads to customers signing up credit card</a:t>
            </a:r>
          </a:p>
          <a:p>
            <a:pPr marL="0" indent="0">
              <a:buNone/>
            </a:pPr>
            <a:r>
              <a:rPr lang="en-US" sz="1600" i="1" dirty="0"/>
              <a:t>(B)</a:t>
            </a:r>
            <a:r>
              <a:rPr lang="en-SG" sz="1600" i="1" dirty="0"/>
              <a:t>How successful the credit card promotion leads to increase in customers’ spending</a:t>
            </a:r>
          </a:p>
          <a:p>
            <a:pPr marL="0" indent="0">
              <a:buNone/>
            </a:pPr>
            <a:endParaRPr lang="en-SG" sz="1800" i="1" dirty="0"/>
          </a:p>
          <a:p>
            <a:pPr marL="0" indent="0">
              <a:buNone/>
            </a:pPr>
            <a:r>
              <a:rPr lang="en-US" sz="1900" dirty="0"/>
              <a:t> </a:t>
            </a:r>
          </a:p>
          <a:p>
            <a:pPr marL="0" indent="0">
              <a:buNone/>
            </a:pPr>
            <a:r>
              <a:rPr lang="en-US" sz="1900" dirty="0"/>
              <a:t>	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1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381000"/>
          </a:xfrm>
        </p:spPr>
        <p:txBody>
          <a:bodyPr>
            <a:noAutofit/>
          </a:bodyPr>
          <a:lstStyle/>
          <a:p>
            <a:r>
              <a:rPr lang="en-US" sz="2800" dirty="0"/>
              <a:t>Objective 1: Data preparation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5" y="533400"/>
            <a:ext cx="3276600" cy="404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863" y="455525"/>
            <a:ext cx="4743538" cy="33382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0830"/>
              </p:ext>
            </p:extLst>
          </p:nvPr>
        </p:nvGraphicFramePr>
        <p:xfrm>
          <a:off x="3414666" y="3967382"/>
          <a:ext cx="4924605" cy="2890618"/>
        </p:xfrm>
        <a:graphic>
          <a:graphicData uri="http://schemas.openxmlformats.org/drawingml/2006/table">
            <a:tbl>
              <a:tblPr firstRow="1" firstCol="1" bandRow="1"/>
              <a:tblGrid>
                <a:gridCol w="1293129">
                  <a:extLst>
                    <a:ext uri="{9D8B030D-6E8A-4147-A177-3AD203B41FA5}">
                      <a16:colId xmlns:a16="http://schemas.microsoft.com/office/drawing/2014/main" val="2282811293"/>
                    </a:ext>
                  </a:extLst>
                </a:gridCol>
                <a:gridCol w="1211632">
                  <a:extLst>
                    <a:ext uri="{9D8B030D-6E8A-4147-A177-3AD203B41FA5}">
                      <a16:colId xmlns:a16="http://schemas.microsoft.com/office/drawing/2014/main" val="347443207"/>
                    </a:ext>
                  </a:extLst>
                </a:gridCol>
                <a:gridCol w="1453844">
                  <a:extLst>
                    <a:ext uri="{9D8B030D-6E8A-4147-A177-3AD203B41FA5}">
                      <a16:colId xmlns:a16="http://schemas.microsoft.com/office/drawing/2014/main" val="3257961085"/>
                    </a:ext>
                  </a:extLst>
                </a:gridCol>
                <a:gridCol w="966000">
                  <a:extLst>
                    <a:ext uri="{9D8B030D-6E8A-4147-A177-3AD203B41FA5}">
                      <a16:colId xmlns:a16="http://schemas.microsoft.com/office/drawing/2014/main" val="2726973249"/>
                    </a:ext>
                  </a:extLst>
                </a:gridCol>
              </a:tblGrid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NUMERICAL</a:t>
                      </a:r>
                      <a:endParaRPr lang="en-SG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CATEGORICAL</a:t>
                      </a:r>
                      <a:endParaRPr lang="en-SG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CALCULATED FIELDS</a:t>
                      </a:r>
                      <a:endParaRPr lang="en-SG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BINS/GROUPS</a:t>
                      </a:r>
                      <a:endParaRPr lang="en-SG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922338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Education Level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Customers Age(years)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Age Group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92185"/>
                  </a:ext>
                </a:extLst>
              </a:tr>
              <a:tr h="2522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of Dependents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CreditCard Exists(yes/no)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Income Group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979875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Postalcode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Marital Status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Birth month(month)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7252143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CampaignCode</a:t>
                      </a:r>
                      <a:endParaRPr lang="en-SG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819011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CreditCardID</a:t>
                      </a:r>
                      <a:endParaRPr lang="en-SG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Job Title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705419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CreditCardTypeID</a:t>
                      </a:r>
                      <a:endParaRPr lang="en-SG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CreditCard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315228"/>
                  </a:ext>
                </a:extLst>
              </a:tr>
              <a:tr h="3832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Customers Age(years)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CreditCard Exists(yes/no)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555983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Birth month(month)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41989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842788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MerchantID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763521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TransactionAmount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335708"/>
                  </a:ext>
                </a:extLst>
              </a:tr>
              <a:tr h="19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Promocode</a:t>
                      </a:r>
                      <a:endParaRPr lang="en-SG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891211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3269064" y="1932632"/>
            <a:ext cx="228600" cy="1451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5791200" y="3795430"/>
            <a:ext cx="408432" cy="1669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6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330" y="76200"/>
            <a:ext cx="7648470" cy="4111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Objective 1: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21268"/>
            <a:ext cx="8229600" cy="4525963"/>
          </a:xfrm>
        </p:spPr>
        <p:txBody>
          <a:bodyPr/>
          <a:lstStyle/>
          <a:p>
            <a:r>
              <a:rPr lang="en-US" sz="1400" i="1" dirty="0"/>
              <a:t>Using </a:t>
            </a:r>
            <a:r>
              <a:rPr lang="en-US" sz="1400" b="1" i="1" u="sng" dirty="0"/>
              <a:t>Forward Selection </a:t>
            </a:r>
            <a:r>
              <a:rPr lang="en-US" sz="1400" i="1" dirty="0"/>
              <a:t>operator in </a:t>
            </a:r>
            <a:r>
              <a:rPr lang="en-US" sz="1400" i="1" dirty="0" err="1"/>
              <a:t>Rapidminer</a:t>
            </a:r>
            <a:r>
              <a:rPr lang="en-US" sz="1400" i="1" dirty="0"/>
              <a:t> to select relevant attributes for analysis. Model is shown below.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55" y="1190159"/>
            <a:ext cx="5486400" cy="279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55" y="3886200"/>
            <a:ext cx="5437833" cy="206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649" y="2895600"/>
            <a:ext cx="2001822" cy="254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6368143" y="3527290"/>
            <a:ext cx="313174" cy="130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2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330" y="76200"/>
            <a:ext cx="7648470" cy="4111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Objective 2: Data preparation-Part1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400" i="1" dirty="0"/>
              <a:t>	Forward selection operator to select best contributing attributes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131414"/>
            <a:ext cx="2895600" cy="217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990600"/>
            <a:ext cx="4876799" cy="1115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2498773"/>
            <a:ext cx="4876801" cy="1130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3966163"/>
            <a:ext cx="4800600" cy="1428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6348115" y="3341279"/>
            <a:ext cx="304800" cy="154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6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495"/>
            <a:ext cx="7924800" cy="563562"/>
          </a:xfrm>
        </p:spPr>
        <p:txBody>
          <a:bodyPr>
            <a:noAutofit/>
          </a:bodyPr>
          <a:lstStyle/>
          <a:p>
            <a:r>
              <a:rPr lang="en-US" sz="3200" dirty="0" err="1"/>
              <a:t>Automodel</a:t>
            </a:r>
            <a:r>
              <a:rPr lang="en-US" sz="3200" dirty="0"/>
              <a:t> Study-Objective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i="1" dirty="0"/>
              <a:t>For the model designing, </a:t>
            </a:r>
            <a:r>
              <a:rPr lang="en-US" sz="1400" i="1" dirty="0" err="1"/>
              <a:t>Automodel</a:t>
            </a:r>
            <a:r>
              <a:rPr lang="en-US" sz="1400" i="1" dirty="0"/>
              <a:t> tool in </a:t>
            </a:r>
            <a:r>
              <a:rPr lang="en-US" sz="1400" i="1" dirty="0" err="1"/>
              <a:t>Rapidminer</a:t>
            </a:r>
            <a:r>
              <a:rPr lang="en-US" sz="1400" i="1" dirty="0"/>
              <a:t> is used to find best designed model, comparing the performance of listed Models as shown below.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71600"/>
            <a:ext cx="4763614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053" y="3962400"/>
            <a:ext cx="4647507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55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495"/>
            <a:ext cx="7924800" cy="563562"/>
          </a:xfrm>
        </p:spPr>
        <p:txBody>
          <a:bodyPr>
            <a:noAutofit/>
          </a:bodyPr>
          <a:lstStyle/>
          <a:p>
            <a:r>
              <a:rPr lang="en-US" sz="3200" dirty="0" err="1"/>
              <a:t>Automodel</a:t>
            </a:r>
            <a:r>
              <a:rPr lang="en-US" sz="3200" dirty="0"/>
              <a:t> Study-Objective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i="1" dirty="0"/>
              <a:t>For the model designing, </a:t>
            </a:r>
            <a:r>
              <a:rPr lang="en-US" sz="1400" i="1" dirty="0" err="1"/>
              <a:t>Automodel</a:t>
            </a:r>
            <a:r>
              <a:rPr lang="en-US" sz="1400" i="1" dirty="0"/>
              <a:t> tool in </a:t>
            </a:r>
            <a:r>
              <a:rPr lang="en-US" sz="1400" i="1" dirty="0" err="1"/>
              <a:t>Rapidminer</a:t>
            </a:r>
            <a:r>
              <a:rPr lang="en-US" sz="1400" i="1" dirty="0"/>
              <a:t> is used to find best designed model, comparing the performance of listed Models as shown below.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43000"/>
            <a:ext cx="5486399" cy="2803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8" y="4114801"/>
            <a:ext cx="5486399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691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15" y="79025"/>
            <a:ext cx="8229600" cy="454375"/>
          </a:xfrm>
        </p:spPr>
        <p:txBody>
          <a:bodyPr>
            <a:noAutofit/>
          </a:bodyPr>
          <a:lstStyle/>
          <a:p>
            <a:r>
              <a:rPr lang="en-US" sz="3200" dirty="0" err="1"/>
              <a:t>Automodel</a:t>
            </a:r>
            <a:r>
              <a:rPr lang="en-US" sz="3200" dirty="0"/>
              <a:t> Summary-Objective 1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971800"/>
            <a:ext cx="3505200" cy="197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10" y="1447800"/>
            <a:ext cx="2710987" cy="138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hlinkClick r:id="" action="ppaction://noaction" highlightClick="1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378" y="1078468"/>
            <a:ext cx="3048000" cy="1426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>
            <a:hlinkClick r:id="" action="ppaction://noaction" highlightClick="1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248" y="1437020"/>
            <a:ext cx="2529143" cy="1469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>
            <a:hlinkClick r:id="" action="ppaction://noaction" highlightClick="1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15" y="5029200"/>
            <a:ext cx="3559560" cy="169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>
            <a:hlinkClick r:id="" action="ppaction://noaction" highlightClick="1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949831"/>
            <a:ext cx="4083370" cy="185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30694" y="1078468"/>
            <a:ext cx="102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16325"/>
            <a:ext cx="1928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0694" y="465400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862" y="709136"/>
            <a:ext cx="58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2800" y="103735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015" y="1535668"/>
            <a:ext cx="2744482" cy="216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hlinkClick r:id="" action="ppaction://noaction" highlightClick="1"/>
          </p:cNvPr>
          <p:cNvSpPr/>
          <p:nvPr/>
        </p:nvSpPr>
        <p:spPr>
          <a:xfrm>
            <a:off x="3345264" y="1206975"/>
            <a:ext cx="3048000" cy="216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hlinkClick r:id="" action="ppaction://noaction" highlightClick="1"/>
          </p:cNvPr>
          <p:cNvSpPr/>
          <p:nvPr/>
        </p:nvSpPr>
        <p:spPr>
          <a:xfrm>
            <a:off x="6592248" y="1752600"/>
            <a:ext cx="2529143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" action="ppaction://noaction" highlightClick="1"/>
          </p:cNvPr>
          <p:cNvSpPr/>
          <p:nvPr/>
        </p:nvSpPr>
        <p:spPr>
          <a:xfrm>
            <a:off x="507510" y="5257800"/>
            <a:ext cx="345489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hlinkClick r:id="" action="ppaction://noaction" highlightClick="1"/>
          </p:cNvPr>
          <p:cNvSpPr/>
          <p:nvPr/>
        </p:nvSpPr>
        <p:spPr>
          <a:xfrm>
            <a:off x="4724400" y="5181600"/>
            <a:ext cx="4083370" cy="15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9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15" y="79025"/>
            <a:ext cx="8229600" cy="454375"/>
          </a:xfrm>
        </p:spPr>
        <p:txBody>
          <a:bodyPr>
            <a:noAutofit/>
          </a:bodyPr>
          <a:lstStyle/>
          <a:p>
            <a:r>
              <a:rPr lang="en-US" sz="3200" dirty="0" err="1"/>
              <a:t>Automodel</a:t>
            </a:r>
            <a:r>
              <a:rPr lang="en-US" sz="3200" dirty="0"/>
              <a:t> Summary-objective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0694" y="1078468"/>
            <a:ext cx="102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7531" y="4695094"/>
            <a:ext cx="1928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0694" y="465400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862" y="709136"/>
            <a:ext cx="58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2800" y="103735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Sensitivity</a:t>
            </a:r>
          </a:p>
        </p:txBody>
      </p:sp>
      <p:pic>
        <p:nvPicPr>
          <p:cNvPr id="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074" y="2362200"/>
            <a:ext cx="4107160" cy="235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25" y="1453974"/>
            <a:ext cx="2925444" cy="90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634" y="970916"/>
            <a:ext cx="3101220" cy="101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447275"/>
            <a:ext cx="2491962" cy="11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31" y="5062807"/>
            <a:ext cx="4336431" cy="143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283" y="5217900"/>
            <a:ext cx="418208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086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8001000" cy="487362"/>
          </a:xfrm>
        </p:spPr>
        <p:txBody>
          <a:bodyPr>
            <a:noAutofit/>
          </a:bodyPr>
          <a:lstStyle/>
          <a:p>
            <a:r>
              <a:rPr lang="en-US" sz="3200" dirty="0"/>
              <a:t>Classification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i="1" u="sng" dirty="0"/>
              <a:t>Logistic Regression model </a:t>
            </a:r>
            <a:r>
              <a:rPr lang="en-US" sz="1400" i="1" dirty="0"/>
              <a:t>is designed to predict, possible </a:t>
            </a:r>
            <a:r>
              <a:rPr lang="en-US" sz="1400" i="1" dirty="0" err="1"/>
              <a:t>creditcard</a:t>
            </a:r>
            <a:r>
              <a:rPr lang="en-US" sz="1400" i="1" dirty="0"/>
              <a:t> sign up for the short listed relevant Customer Demographic attributes from earlier steps.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37149"/>
            <a:ext cx="6324600" cy="220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82" y="3838529"/>
            <a:ext cx="6324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9724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Logistic regression validation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4114800" cy="187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19400"/>
            <a:ext cx="3717925" cy="167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24400"/>
            <a:ext cx="6512641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05000" y="5257800"/>
            <a:ext cx="1143000" cy="381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Support vector machine – objective 2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305800" cy="2980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62400"/>
            <a:ext cx="7091363" cy="2681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6100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Support Vector Machine X-Validation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505229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4953000" cy="132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95800"/>
            <a:ext cx="723639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05000" y="5105400"/>
            <a:ext cx="25146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pPr marL="0" indent="0"/>
            <a:br>
              <a:rPr lang="en-US" sz="3200" dirty="0"/>
            </a:br>
            <a:r>
              <a:rPr lang="en-US" sz="3200" dirty="0"/>
              <a:t>Data Visualization of Predicted results</a:t>
            </a:r>
            <a:br>
              <a:rPr lang="en-US" sz="3200" dirty="0"/>
            </a:br>
            <a:r>
              <a:rPr lang="en-US" sz="3200" dirty="0"/>
              <a:t>/customer demographics/</a:t>
            </a:r>
            <a:br>
              <a:rPr lang="en-US" sz="3200" b="1" i="1" u="sng" dirty="0"/>
            </a:br>
            <a:br>
              <a:rPr lang="en-US" sz="3200" i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sz="1800" i="1" u="sng" dirty="0"/>
          </a:p>
          <a:p>
            <a:pPr marL="0" indent="0">
              <a:buNone/>
            </a:pPr>
            <a:r>
              <a:rPr lang="en-US" sz="1800" i="1" u="sng" dirty="0"/>
              <a:t>Tableau Data:</a:t>
            </a:r>
          </a:p>
          <a:p>
            <a:pPr marL="0" indent="0">
              <a:buNone/>
            </a:pPr>
            <a:r>
              <a:rPr lang="en-US" sz="1400" i="1" dirty="0"/>
              <a:t>The result obtained from the Logistic Regression is used to get visualization chart and evaluates the results obtained based on </a:t>
            </a:r>
            <a:r>
              <a:rPr lang="en-US" sz="1400" b="1" i="1" u="sng" dirty="0"/>
              <a:t>customer demographics</a:t>
            </a:r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133600"/>
            <a:ext cx="7696200" cy="3109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4306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Customer Age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5990492"/>
            <a:ext cx="8391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990000"/>
                </a:solidFill>
              </a:rPr>
              <a:t>Customers who belongs to  Age group between </a:t>
            </a:r>
            <a:r>
              <a:rPr lang="en-US" sz="1400" b="1" i="1" dirty="0">
                <a:solidFill>
                  <a:srgbClr val="990000"/>
                </a:solidFill>
              </a:rPr>
              <a:t>40 and 60 YEARS OLD </a:t>
            </a:r>
            <a:r>
              <a:rPr lang="en-US" sz="1400" i="1" dirty="0">
                <a:solidFill>
                  <a:srgbClr val="990000"/>
                </a:solidFill>
              </a:rPr>
              <a:t>are more likely to sign up for the </a:t>
            </a:r>
            <a:r>
              <a:rPr lang="en-US" sz="1400" i="1" dirty="0" err="1">
                <a:solidFill>
                  <a:srgbClr val="990000"/>
                </a:solidFill>
              </a:rPr>
              <a:t>creditcard</a:t>
            </a:r>
            <a:endParaRPr lang="en-US" sz="1400" i="1" dirty="0">
              <a:solidFill>
                <a:srgbClr val="990000"/>
              </a:solidFill>
            </a:endParaRP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266" y="838200"/>
            <a:ext cx="592746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373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Income Group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14400"/>
            <a:ext cx="712670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5990492"/>
            <a:ext cx="8304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990000"/>
                </a:solidFill>
              </a:rPr>
              <a:t>Customers whose earnings in  Income group between </a:t>
            </a:r>
            <a:r>
              <a:rPr lang="en-US" sz="1400" b="1" i="1" dirty="0">
                <a:solidFill>
                  <a:srgbClr val="990000"/>
                </a:solidFill>
              </a:rPr>
              <a:t>40K to 220K </a:t>
            </a:r>
            <a:r>
              <a:rPr lang="en-US" sz="1400" i="1" dirty="0">
                <a:solidFill>
                  <a:srgbClr val="990000"/>
                </a:solidFill>
              </a:rPr>
              <a:t>are more likely to be sign up for the </a:t>
            </a:r>
            <a:r>
              <a:rPr lang="en-US" sz="1400" i="1" dirty="0" err="1">
                <a:solidFill>
                  <a:srgbClr val="990000"/>
                </a:solidFill>
              </a:rPr>
              <a:t>creditcard</a:t>
            </a:r>
            <a:endParaRPr lang="en-US" sz="1400" i="1" dirty="0">
              <a:solidFill>
                <a:srgbClr val="99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16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Data Visualization of Predicted results</a:t>
            </a:r>
            <a:br>
              <a:rPr lang="en-US" sz="3200" dirty="0"/>
            </a:br>
            <a:r>
              <a:rPr lang="en-US" sz="3200" dirty="0"/>
              <a:t>/Customer Spending Nature/</a:t>
            </a:r>
            <a:br>
              <a:rPr lang="en-US" sz="3200" b="1" i="1" u="sng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sz="1800" i="1" u="sng" dirty="0"/>
          </a:p>
          <a:p>
            <a:pPr marL="0" indent="0">
              <a:buNone/>
            </a:pPr>
            <a:r>
              <a:rPr lang="en-US" sz="1800" i="1" u="sng" dirty="0"/>
              <a:t>Tableau Data:</a:t>
            </a:r>
          </a:p>
          <a:p>
            <a:pPr marL="0" indent="0">
              <a:buNone/>
            </a:pPr>
            <a:r>
              <a:rPr lang="en-US" sz="1400" i="1" dirty="0"/>
              <a:t>The result obtained from the SVM model is used to get visualization chart and evaluates the results obtained based on </a:t>
            </a:r>
            <a:r>
              <a:rPr lang="en-US" sz="1400" b="1" i="1" u="sng" dirty="0"/>
              <a:t>customer spending nature</a:t>
            </a:r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0"/>
            <a:ext cx="6788944" cy="3261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928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Industry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6144380"/>
            <a:ext cx="5070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990000"/>
                </a:solidFill>
              </a:rPr>
              <a:t>Transaction amount using </a:t>
            </a:r>
            <a:r>
              <a:rPr lang="en-US" sz="1400" i="1" dirty="0" err="1">
                <a:solidFill>
                  <a:srgbClr val="990000"/>
                </a:solidFill>
              </a:rPr>
              <a:t>promocode</a:t>
            </a:r>
            <a:r>
              <a:rPr lang="en-US" sz="1400" i="1" dirty="0">
                <a:solidFill>
                  <a:srgbClr val="990000"/>
                </a:solidFill>
              </a:rPr>
              <a:t> are high in </a:t>
            </a:r>
            <a:r>
              <a:rPr lang="en-US" sz="1400" b="1" i="1" dirty="0">
                <a:solidFill>
                  <a:srgbClr val="990000"/>
                </a:solidFill>
              </a:rPr>
              <a:t>RETAIL</a:t>
            </a:r>
            <a:r>
              <a:rPr lang="en-US" sz="1400" i="1" dirty="0">
                <a:solidFill>
                  <a:srgbClr val="990000"/>
                </a:solidFill>
              </a:rPr>
              <a:t> industries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303" y="762000"/>
            <a:ext cx="7534275" cy="497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1439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dirty="0"/>
              <a:t>Quarterly Promotional spending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2798" y="6114975"/>
            <a:ext cx="8133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990000"/>
                </a:solidFill>
              </a:rPr>
              <a:t>Customer spending is more during the </a:t>
            </a:r>
            <a:r>
              <a:rPr lang="en-US" sz="1400" b="1" i="1" dirty="0">
                <a:solidFill>
                  <a:srgbClr val="990000"/>
                </a:solidFill>
              </a:rPr>
              <a:t>THIRD AND SECOND QUARTERS OF THE YEAR </a:t>
            </a:r>
            <a:r>
              <a:rPr lang="en-US" sz="1400" i="1" dirty="0">
                <a:solidFill>
                  <a:srgbClr val="990000"/>
                </a:solidFill>
              </a:rPr>
              <a:t>with </a:t>
            </a:r>
            <a:r>
              <a:rPr lang="en-US" sz="1400" i="1" dirty="0" err="1">
                <a:solidFill>
                  <a:srgbClr val="990000"/>
                </a:solidFill>
              </a:rPr>
              <a:t>Promocode</a:t>
            </a:r>
            <a:r>
              <a:rPr lang="en-US" sz="1400" i="1" dirty="0">
                <a:solidFill>
                  <a:srgbClr val="990000"/>
                </a:solidFill>
              </a:rPr>
              <a:t> applied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7553325" cy="488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27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443</Words>
  <Application>Microsoft Office PowerPoint</Application>
  <PresentationFormat>On-screen Show (4:3)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Project Modelling and Evaluation</vt:lpstr>
      <vt:lpstr>Objective 1: Data preparation</vt:lpstr>
      <vt:lpstr>Objective 1: Data preparation</vt:lpstr>
      <vt:lpstr>Objective 2: Data preparation-Part1</vt:lpstr>
      <vt:lpstr>Automodel Study-Objective 1</vt:lpstr>
      <vt:lpstr>Automodel Study-Objective 2</vt:lpstr>
      <vt:lpstr>Automodel Summary-Objective 1</vt:lpstr>
      <vt:lpstr>Automodel Summary-objective 2</vt:lpstr>
      <vt:lpstr>Classification Model 1</vt:lpstr>
      <vt:lpstr>Logistic regression validation</vt:lpstr>
      <vt:lpstr>Support vector machine – objective 2</vt:lpstr>
      <vt:lpstr>Support Vector Machine X-Validation</vt:lpstr>
      <vt:lpstr> Data Visualization of Predicted results /customer demographics/  </vt:lpstr>
      <vt:lpstr>Customer Age Group</vt:lpstr>
      <vt:lpstr>Income Group</vt:lpstr>
      <vt:lpstr>Data Visualization of Predicted results /Customer Spending Nature/ </vt:lpstr>
      <vt:lpstr>Industry type</vt:lpstr>
      <vt:lpstr>Quarterly Promotional spending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</dc:creator>
  <cp:lastModifiedBy>Jaga M</cp:lastModifiedBy>
  <cp:revision>91</cp:revision>
  <dcterms:created xsi:type="dcterms:W3CDTF">2019-02-20T10:23:44Z</dcterms:created>
  <dcterms:modified xsi:type="dcterms:W3CDTF">2026-04-08T09:53:01Z</dcterms:modified>
</cp:coreProperties>
</file>